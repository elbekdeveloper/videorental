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7" r:id="rId13"/>
    <p:sldId id="268" r:id="rId14"/>
    <p:sldId id="269" r:id="rId15"/>
    <p:sldId id="28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66" r:id="rId35"/>
    <p:sldId id="2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67DFC-C94E-45B0-8BCA-6BF80206B21F}" type="datetimeFigureOut">
              <a:rPr lang="en-GB" smtClean="0"/>
              <a:t>16/09/2019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F1F8-DA74-4BF3-BAD2-FA2B085970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65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F1F8-DA74-4BF3-BAD2-FA2B085970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89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7560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821" y="65530"/>
            <a:ext cx="2925543" cy="64096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709863" y="2522538"/>
            <a:ext cx="6753225" cy="13144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/>
            </a:lvl1pPr>
          </a:lstStyle>
          <a:p>
            <a:pPr lvl="0"/>
            <a:r>
              <a:rPr lang="en-GB" dirty="0" smtClean="0"/>
              <a:t>Presentation Title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61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7560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821" y="65530"/>
            <a:ext cx="2925543" cy="6409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63513" y="130175"/>
            <a:ext cx="7151687" cy="5222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Slide title </a:t>
            </a: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 hasCustomPrompt="1"/>
          </p:nvPr>
        </p:nvSpPr>
        <p:spPr>
          <a:xfrm>
            <a:off x="538163" y="1143000"/>
            <a:ext cx="11193462" cy="50053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65064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3" y="2694430"/>
            <a:ext cx="6705614" cy="146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2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Database Systems Development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208149" y="4215539"/>
            <a:ext cx="6044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Lecture 1</a:t>
            </a:r>
          </a:p>
          <a:p>
            <a:pPr algn="ctr"/>
            <a:r>
              <a:rPr lang="en-GB" sz="2800" dirty="0" smtClean="0"/>
              <a:t>Introduction to database systems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5362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altLang="en-US" sz="4400" dirty="0"/>
              <a:t>Module description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altLang="en-US" sz="4400" dirty="0" smtClean="0"/>
              <a:t>Terms</a:t>
            </a:r>
            <a:r>
              <a:rPr lang="en-GB" altLang="en-US" sz="4400" dirty="0"/>
              <a:t>: Database, Database Management System (DBMS</a:t>
            </a:r>
            <a:r>
              <a:rPr lang="en-GB" altLang="en-US" sz="4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GB" altLang="en-US" sz="4400" dirty="0" smtClean="0"/>
              <a:t>Classification of database systems</a:t>
            </a:r>
            <a:endParaRPr lang="en-GB" altLang="en-US" sz="4400" dirty="0"/>
          </a:p>
          <a:p>
            <a:pPr marL="457200" indent="-457200">
              <a:buFont typeface="+mj-lt"/>
              <a:buAutoNum type="arabicPeriod"/>
            </a:pPr>
            <a:r>
              <a:rPr lang="en-GB" altLang="en-US" sz="4400" dirty="0" smtClean="0"/>
              <a:t>ANSI-SPARC </a:t>
            </a:r>
            <a:r>
              <a:rPr lang="en-GB" altLang="en-US" sz="4400" dirty="0"/>
              <a:t>Three-Level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GB" altLang="en-US" sz="4400" dirty="0" smtClean="0"/>
              <a:t>Database modelling – ER diagrams</a:t>
            </a:r>
            <a:endParaRPr lang="en-GB" altLang="en-US" sz="4400" dirty="0"/>
          </a:p>
          <a:p>
            <a:pPr marL="0" indent="0">
              <a:buNone/>
            </a:pP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25262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Module description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3200" dirty="0"/>
              <a:t>20 credits core module</a:t>
            </a:r>
          </a:p>
          <a:p>
            <a:endParaRPr lang="en-US" altLang="en-US" sz="3200" dirty="0"/>
          </a:p>
          <a:p>
            <a:r>
              <a:rPr lang="en-US" altLang="en-US" sz="3200" dirty="0"/>
              <a:t>Duration - 2 Semesters</a:t>
            </a:r>
          </a:p>
          <a:p>
            <a:endParaRPr lang="en-US" altLang="en-US" sz="3200" dirty="0"/>
          </a:p>
          <a:p>
            <a:r>
              <a:rPr lang="en-US" altLang="en-US" sz="3200" dirty="0"/>
              <a:t>All assessments are based on practical pieces of work</a:t>
            </a:r>
          </a:p>
          <a:p>
            <a:pPr lvl="1"/>
            <a:r>
              <a:rPr lang="en-US" altLang="en-US" sz="3200" dirty="0"/>
              <a:t>CW1 40% -  TW </a:t>
            </a:r>
            <a:r>
              <a:rPr lang="en-US" altLang="en-US" sz="3200" dirty="0" smtClean="0"/>
              <a:t>12</a:t>
            </a:r>
            <a:endParaRPr lang="en-US" altLang="en-US" sz="3200" dirty="0"/>
          </a:p>
          <a:p>
            <a:pPr lvl="1"/>
            <a:r>
              <a:rPr lang="en-US" altLang="en-US" sz="3200" dirty="0"/>
              <a:t>In class test  20% </a:t>
            </a:r>
            <a:r>
              <a:rPr lang="en-US" altLang="en-US" sz="3200" dirty="0" err="1" smtClean="0"/>
              <a:t>Sem</a:t>
            </a:r>
            <a:r>
              <a:rPr lang="en-US" altLang="en-US" sz="3200" dirty="0" smtClean="0"/>
              <a:t> 2 TW 2</a:t>
            </a:r>
            <a:endParaRPr lang="en-US" altLang="en-US" sz="3200" dirty="0"/>
          </a:p>
          <a:p>
            <a:pPr lvl="1"/>
            <a:r>
              <a:rPr lang="en-US" altLang="en-US" sz="3200" dirty="0"/>
              <a:t>CW2 40%  - </a:t>
            </a:r>
            <a:r>
              <a:rPr lang="en-US" altLang="en-US" sz="3200" dirty="0" smtClean="0"/>
              <a:t>Sem2 TW 12</a:t>
            </a:r>
            <a:endParaRPr lang="en-US" altLang="en-US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6358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Module structure overview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800" dirty="0"/>
              <a:t>Relational model, DB general principles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Database design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000" dirty="0"/>
              <a:t>Conceptual design (EER)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000" dirty="0"/>
              <a:t>Logical design(mapping)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000" dirty="0"/>
              <a:t>Functional dependencies, Normalization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Query relational data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000" dirty="0"/>
              <a:t>SQL DML and DDL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Procedural features of SQL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Query optimization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dirty="0"/>
              <a:t>Web Interfaces for DB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000" dirty="0" smtClean="0"/>
              <a:t>ADO.NET, ASP.NET MVC</a:t>
            </a:r>
            <a:endParaRPr lang="en-US" sz="2000" dirty="0"/>
          </a:p>
          <a:p>
            <a:pPr>
              <a:buFont typeface="Arial" charset="0"/>
              <a:buChar char="•"/>
              <a:defRPr/>
            </a:pPr>
            <a:r>
              <a:rPr lang="en-US" sz="2800" dirty="0" smtClean="0"/>
              <a:t>Database Warehouse introduction</a:t>
            </a:r>
            <a:endParaRPr lang="en-US" sz="2800" dirty="0"/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3164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3600" b="1" i="1" dirty="0"/>
              <a:t>Database</a:t>
            </a:r>
            <a:r>
              <a:rPr lang="en-GB" sz="3600" dirty="0"/>
              <a:t> is shared collection of logically related data (and a description of this data), designed to meet the information needs of an </a:t>
            </a:r>
            <a:r>
              <a:rPr lang="en-GB" sz="3600" dirty="0" smtClean="0"/>
              <a:t>organization</a:t>
            </a:r>
          </a:p>
          <a:p>
            <a:endParaRPr lang="en-GB" altLang="ru-RU" sz="3600" b="1" i="1" dirty="0" smtClean="0"/>
          </a:p>
          <a:p>
            <a:r>
              <a:rPr lang="en-GB" altLang="ru-RU" sz="3600" b="1" i="1" dirty="0" smtClean="0"/>
              <a:t>Database </a:t>
            </a:r>
            <a:r>
              <a:rPr lang="en-GB" altLang="ru-RU" sz="3600" b="1" i="1" dirty="0"/>
              <a:t>Management System (DBMS) </a:t>
            </a:r>
            <a:r>
              <a:rPr lang="en-GB" altLang="ru-RU" sz="3600" dirty="0"/>
              <a:t>is a software system that enables users to define, create, and maintain the database and that provides controlled access to this database.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88843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Classification by data model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GB" altLang="ru-RU" sz="5400" dirty="0"/>
              <a:t>Hierarchical and </a:t>
            </a:r>
            <a:r>
              <a:rPr lang="en-GB" altLang="ru-RU" sz="5400" dirty="0" smtClean="0"/>
              <a:t>Network </a:t>
            </a:r>
            <a:r>
              <a:rPr lang="en-GB" alt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IDMS, Win Registry </a:t>
            </a:r>
            <a:endParaRPr lang="en-GB" altLang="ru-RU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5400" b="1" dirty="0" smtClean="0"/>
              <a:t>Relational </a:t>
            </a:r>
          </a:p>
          <a:p>
            <a:r>
              <a:rPr lang="en-US" sz="5400" b="1" dirty="0" smtClean="0"/>
              <a:t>Object </a:t>
            </a:r>
          </a:p>
          <a:p>
            <a:pPr marL="0" indent="0">
              <a:buNone/>
            </a:pPr>
            <a:r>
              <a:rPr lang="en-US" sz="5400" b="1" dirty="0" smtClean="0"/>
              <a:t> Relational</a:t>
            </a:r>
          </a:p>
          <a:p>
            <a:r>
              <a:rPr lang="en-US" sz="5400" dirty="0" smtClean="0"/>
              <a:t>Object Oriented </a:t>
            </a:r>
          </a:p>
          <a:p>
            <a:r>
              <a:rPr lang="en-US" sz="5400" dirty="0" smtClean="0"/>
              <a:t>NoSQL </a:t>
            </a:r>
            <a:endParaRPr lang="ru-RU" sz="5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360" y="2599516"/>
            <a:ext cx="7219950" cy="1429899"/>
          </a:xfrm>
          <a:prstGeom prst="rect">
            <a:avLst/>
          </a:prstGeom>
        </p:spPr>
      </p:pic>
      <p:pic>
        <p:nvPicPr>
          <p:cNvPr id="1034" name="Picture 10" descr="MongoDB-Logo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050" y="5530512"/>
            <a:ext cx="238125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dis Logo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827" y="5540037"/>
            <a:ext cx="190500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ssandra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817" y="5335549"/>
            <a:ext cx="1352384" cy="90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pache Ignite logo.sv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620" y="5315263"/>
            <a:ext cx="209550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b4o-logo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481" y="4751716"/>
            <a:ext cx="1685927" cy="67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emStone-S logo and wordmark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27" y="4794203"/>
            <a:ext cx="1067176" cy="33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https://upload.wikimedia.org/wikipedia/en/thumb/9/94/JADE_%28programming_language%29_logo.svg/220px-JADE_%28programming_language%29_logo.svg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858" y="4624303"/>
            <a:ext cx="1203993" cy="64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2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80487" cy="522288"/>
          </a:xfrm>
        </p:spPr>
        <p:txBody>
          <a:bodyPr/>
          <a:lstStyle/>
          <a:p>
            <a:r>
              <a:rPr lang="en-GB" altLang="ru-RU" dirty="0">
                <a:latin typeface="Times" panose="02020603050405020304" pitchFamily="18" charset="0"/>
              </a:rPr>
              <a:t>ANSI-SPARC Three-Level Architecture</a:t>
            </a:r>
            <a:endParaRPr lang="ru-RU" dirty="0"/>
          </a:p>
        </p:txBody>
      </p:sp>
      <p:pic>
        <p:nvPicPr>
          <p:cNvPr id="4" name="Picture 5" descr="D:\Database System 3e_tiff\Ch02-tif\DS3-Figure 02-03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31" y="780294"/>
            <a:ext cx="9593059" cy="5800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571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824076" cy="522288"/>
          </a:xfrm>
        </p:spPr>
        <p:txBody>
          <a:bodyPr/>
          <a:lstStyle/>
          <a:p>
            <a:r>
              <a:rPr lang="en-US" dirty="0" smtClean="0"/>
              <a:t>Database design – ER modelling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600" b="1" dirty="0"/>
              <a:t>ER modelling </a:t>
            </a:r>
            <a:r>
              <a:rPr lang="en-GB" sz="3600" dirty="0"/>
              <a:t>is a top-down approach to database design that begins by identifying the important data called </a:t>
            </a:r>
            <a:r>
              <a:rPr lang="en-GB" sz="3600" i="1" dirty="0"/>
              <a:t>entities </a:t>
            </a:r>
            <a:r>
              <a:rPr lang="en-GB" sz="3600" dirty="0"/>
              <a:t>and </a:t>
            </a:r>
            <a:r>
              <a:rPr lang="en-GB" sz="3600" i="1" dirty="0"/>
              <a:t>relationships </a:t>
            </a:r>
            <a:r>
              <a:rPr lang="en-GB" sz="3600" dirty="0"/>
              <a:t>between the data that must be represented in the model. </a:t>
            </a:r>
            <a:br>
              <a:rPr lang="en-GB" sz="3600" dirty="0"/>
            </a:br>
            <a:endParaRPr lang="en-GB" sz="3600" dirty="0" smtClean="0"/>
          </a:p>
          <a:p>
            <a:pPr marL="0" indent="0">
              <a:buNone/>
            </a:pPr>
            <a:r>
              <a:rPr lang="en-GB" sz="3600" dirty="0" smtClean="0"/>
              <a:t>Multiple ER notations exists, e.g.:</a:t>
            </a:r>
          </a:p>
          <a:p>
            <a:pPr lvl="1"/>
            <a:r>
              <a:rPr lang="en-GB" sz="3200" dirty="0" smtClean="0"/>
              <a:t>Chen’s notation</a:t>
            </a:r>
          </a:p>
          <a:p>
            <a:pPr lvl="1"/>
            <a:r>
              <a:rPr lang="en-US" sz="3200" dirty="0"/>
              <a:t>Crow’s Foot </a:t>
            </a:r>
            <a:r>
              <a:rPr lang="en-US" sz="3200" dirty="0" smtClean="0"/>
              <a:t>Notation</a:t>
            </a:r>
          </a:p>
          <a:p>
            <a:pPr lvl="1"/>
            <a:r>
              <a:rPr lang="en-US" sz="3200" b="1" dirty="0" smtClean="0"/>
              <a:t>UML</a:t>
            </a:r>
          </a:p>
          <a:p>
            <a:pPr marL="457200" lvl="1" indent="0">
              <a:buNone/>
            </a:pPr>
            <a:endParaRPr lang="en-GB" sz="3200" dirty="0" smtClean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US" sz="3600" dirty="0" smtClean="0"/>
              <a:t> 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47496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Concepts of the ER model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6000" b="1" dirty="0"/>
              <a:t>Entity</a:t>
            </a:r>
            <a:r>
              <a:rPr lang="en-US" sz="6000" dirty="0"/>
              <a:t> </a:t>
            </a:r>
            <a:r>
              <a:rPr lang="en-US" sz="6000" dirty="0" smtClean="0"/>
              <a:t>types</a:t>
            </a:r>
          </a:p>
          <a:p>
            <a:pPr lvl="1"/>
            <a:r>
              <a:rPr lang="en-US" sz="4800" dirty="0"/>
              <a:t>Strong and weak entity </a:t>
            </a:r>
            <a:r>
              <a:rPr lang="en-US" sz="4800" dirty="0" smtClean="0"/>
              <a:t>types</a:t>
            </a:r>
          </a:p>
          <a:p>
            <a:endParaRPr lang="en-US" sz="1800" dirty="0" smtClean="0"/>
          </a:p>
          <a:p>
            <a:r>
              <a:rPr lang="en-US" sz="6000" b="1" dirty="0" smtClean="0"/>
              <a:t>Attributes</a:t>
            </a:r>
          </a:p>
          <a:p>
            <a:endParaRPr lang="en-US" sz="3200" dirty="0"/>
          </a:p>
          <a:p>
            <a:r>
              <a:rPr lang="en-US" sz="6000" b="1" dirty="0"/>
              <a:t>Relationship</a:t>
            </a:r>
            <a:r>
              <a:rPr lang="en-US" sz="6000" dirty="0"/>
              <a:t> types </a:t>
            </a:r>
            <a:endParaRPr lang="en-US" sz="6000" dirty="0" smtClean="0"/>
          </a:p>
          <a:p>
            <a:pPr lvl="1"/>
            <a:r>
              <a:rPr lang="en-US" sz="4800" dirty="0"/>
              <a:t>Structural </a:t>
            </a:r>
            <a:r>
              <a:rPr lang="en-US" sz="4800" dirty="0" smtClean="0"/>
              <a:t>Constraints</a:t>
            </a:r>
          </a:p>
          <a:p>
            <a:pPr marL="457200" lvl="1" indent="0">
              <a:buNone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99111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dirty="0"/>
              <a:t>Entity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>
          <a:xfrm>
            <a:off x="538163" y="1143000"/>
            <a:ext cx="11193462" cy="531795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Entity type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Group of objects with same properties, identified by enterprise as having an independent existence. </a:t>
            </a:r>
          </a:p>
          <a:p>
            <a:pPr>
              <a:lnSpc>
                <a:spcPct val="120000"/>
              </a:lnSpc>
            </a:pPr>
            <a:endParaRPr lang="en-US" alt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Entity occurrence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Uniquely identifiable object of an entity type. </a:t>
            </a:r>
            <a:endParaRPr lang="ru-RU" altLang="en-US" sz="3600" dirty="0"/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77521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Entity examples</a:t>
            </a:r>
            <a:endParaRPr lang="ru-RU" dirty="0"/>
          </a:p>
        </p:txBody>
      </p:sp>
      <p:pic>
        <p:nvPicPr>
          <p:cNvPr id="4" name="Picture 3078" descr="D:\Database System 3e_tiff\Ch11-tif\DS3-Figure 11-02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128" y="765209"/>
            <a:ext cx="6636427" cy="5816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732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Entity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>
          <a:xfrm>
            <a:off x="309563" y="938462"/>
            <a:ext cx="5898732" cy="570296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/>
              <a:t>Strong Entity Type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Entity type that is not existence-dependent on some other entity type. </a:t>
            </a:r>
          </a:p>
          <a:p>
            <a:pPr>
              <a:lnSpc>
                <a:spcPct val="120000"/>
              </a:lnSpc>
            </a:pPr>
            <a:endParaRPr lang="en-US" alt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/>
              <a:t>Weak Entity Type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Entity type that is existence-dependent on some other entity type. </a:t>
            </a:r>
            <a:endParaRPr lang="en-US" altLang="en-US" sz="1800" dirty="0"/>
          </a:p>
          <a:p>
            <a:pPr marL="0" indent="0">
              <a:buNone/>
            </a:pPr>
            <a:endParaRPr lang="ru-RU" sz="1800" dirty="0"/>
          </a:p>
        </p:txBody>
      </p:sp>
      <p:pic>
        <p:nvPicPr>
          <p:cNvPr id="4" name="Picture 8" descr="D:\Database System 3e_tiff\Ch11-tif\DS3-Figure 11-12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645" y="878303"/>
            <a:ext cx="5811252" cy="570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849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dirty="0" smtClean="0"/>
              <a:t>Attributes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4400" b="1" dirty="0"/>
              <a:t>Attribute</a:t>
            </a:r>
          </a:p>
          <a:p>
            <a:pPr lvl="1">
              <a:lnSpc>
                <a:spcPct val="120000"/>
              </a:lnSpc>
            </a:pPr>
            <a:r>
              <a:rPr lang="en-US" altLang="en-US" sz="4000" dirty="0"/>
              <a:t>Property of an entity or a relationship type.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400" b="1" dirty="0"/>
              <a:t>Attribute Domain</a:t>
            </a:r>
          </a:p>
          <a:p>
            <a:pPr lvl="1">
              <a:lnSpc>
                <a:spcPct val="120000"/>
              </a:lnSpc>
            </a:pPr>
            <a:r>
              <a:rPr lang="en-US" altLang="en-US" sz="4000" dirty="0"/>
              <a:t>Set of allowable values for one or more attributes. </a:t>
            </a:r>
          </a:p>
        </p:txBody>
      </p:sp>
    </p:spTree>
    <p:extLst>
      <p:ext uri="{BB962C8B-B14F-4D97-AF65-F5344CB8AC3E}">
        <p14:creationId xmlns:p14="http://schemas.microsoft.com/office/powerpoint/2010/main" val="2191913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>
          <a:xfrm>
            <a:off x="538162" y="818147"/>
            <a:ext cx="11457321" cy="5330241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 smtClean="0"/>
              <a:t>Simple Attribute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 smtClean="0"/>
              <a:t>Attribute </a:t>
            </a:r>
            <a:r>
              <a:rPr lang="en-US" altLang="en-US" sz="2800" b="1" i="1" dirty="0" smtClean="0"/>
              <a:t>composed of a single component </a:t>
            </a:r>
            <a:r>
              <a:rPr lang="en-US" altLang="en-US" sz="2800" dirty="0" smtClean="0"/>
              <a:t>with an independent existence.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 smtClean="0"/>
              <a:t>Composite Attribute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 smtClean="0"/>
              <a:t>Attribute </a:t>
            </a:r>
            <a:r>
              <a:rPr lang="en-US" altLang="en-US" sz="2800" b="1" i="1" dirty="0" smtClean="0"/>
              <a:t>composed of multiple components</a:t>
            </a:r>
            <a:r>
              <a:rPr lang="en-US" altLang="en-US" sz="2800" dirty="0" smtClean="0"/>
              <a:t>, each with an independent existence.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 smtClean="0"/>
              <a:t>Derived </a:t>
            </a:r>
            <a:r>
              <a:rPr lang="en-US" altLang="en-US" sz="3200" b="1" dirty="0"/>
              <a:t>Attribute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Attribute that represents a value that is </a:t>
            </a:r>
            <a:r>
              <a:rPr lang="en-US" altLang="en-US" sz="2800" b="1" i="1" dirty="0"/>
              <a:t>derivable from value of a related attribute</a:t>
            </a:r>
            <a:r>
              <a:rPr lang="en-US" altLang="en-US" sz="2800" dirty="0"/>
              <a:t>, or set of attributes, not necessarily in the same entity type. </a:t>
            </a:r>
          </a:p>
        </p:txBody>
      </p:sp>
    </p:spTree>
    <p:extLst>
      <p:ext uri="{BB962C8B-B14F-4D97-AF65-F5344CB8AC3E}">
        <p14:creationId xmlns:p14="http://schemas.microsoft.com/office/powerpoint/2010/main" val="2483812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Single-valued Attribute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Attribute that </a:t>
            </a:r>
            <a:r>
              <a:rPr lang="en-US" altLang="en-US" sz="3600" b="1" i="1" dirty="0"/>
              <a:t>holds a single value </a:t>
            </a:r>
            <a:r>
              <a:rPr lang="en-US" altLang="en-US" sz="3600" dirty="0"/>
              <a:t>for each occurrence of an entity type. </a:t>
            </a:r>
          </a:p>
          <a:p>
            <a:pPr lvl="1">
              <a:lnSpc>
                <a:spcPct val="120000"/>
              </a:lnSpc>
            </a:pPr>
            <a:endParaRPr lang="en-US" alt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Multi-valued Attribute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Attribute that </a:t>
            </a:r>
            <a:r>
              <a:rPr lang="en-US" altLang="en-US" sz="3600" b="1" i="1" dirty="0"/>
              <a:t>holds multiple values </a:t>
            </a:r>
            <a:r>
              <a:rPr lang="en-US" altLang="en-US" sz="3600" dirty="0"/>
              <a:t>for each occurrence of an entity type. </a:t>
            </a:r>
            <a:endParaRPr lang="en-US" altLang="en-US" sz="28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861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Attributes example</a:t>
            </a:r>
            <a:endParaRPr lang="ru-RU" dirty="0"/>
          </a:p>
        </p:txBody>
      </p:sp>
      <p:pic>
        <p:nvPicPr>
          <p:cNvPr id="4" name="Picture 1032" descr="D:\Database System 3e_tiff\Ch11-tif\DS3-Figure 11-1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823420"/>
            <a:ext cx="10058399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282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Relationship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Relationship type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Set of meaningful associations among entity types. </a:t>
            </a:r>
          </a:p>
          <a:p>
            <a:pPr lvl="1">
              <a:lnSpc>
                <a:spcPct val="120000"/>
              </a:lnSpc>
            </a:pPr>
            <a:endParaRPr lang="en-US" alt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Relationship occurrence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Uniquely identifiable association, which includes one occurrence from each participating entity type.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6867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836108" cy="522288"/>
          </a:xfrm>
        </p:spPr>
        <p:txBody>
          <a:bodyPr/>
          <a:lstStyle/>
          <a:p>
            <a:r>
              <a:rPr lang="en-US" dirty="0" smtClean="0"/>
              <a:t>Relationship type and occurrences</a:t>
            </a:r>
            <a:endParaRPr lang="ru-RU" dirty="0"/>
          </a:p>
        </p:txBody>
      </p:sp>
      <p:pic>
        <p:nvPicPr>
          <p:cNvPr id="4" name="Picture 1029" descr="D:\Database System 3e_tiff\Ch11-tif\DS3-Figure 11-04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032" y="1090844"/>
            <a:ext cx="9914021" cy="5133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932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Relationship example</a:t>
            </a:r>
            <a:endParaRPr lang="ru-RU" dirty="0"/>
          </a:p>
        </p:txBody>
      </p:sp>
      <p:pic>
        <p:nvPicPr>
          <p:cNvPr id="6" name="Picture 5" descr="D:\Database System 3e_tiff\Ch11-tif\DS3-Figure 11-10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53" y="754003"/>
            <a:ext cx="7904052" cy="5757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993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Relationship properties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Degree of a Relationship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Number of participating entities in relationship</a:t>
            </a:r>
            <a:r>
              <a:rPr lang="en-US" altLang="en-US" sz="4000" dirty="0"/>
              <a:t>.</a:t>
            </a:r>
          </a:p>
          <a:p>
            <a:pPr lvl="1">
              <a:lnSpc>
                <a:spcPct val="120000"/>
              </a:lnSpc>
            </a:pPr>
            <a:endParaRPr lang="en-US" altLang="en-US" sz="20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000" dirty="0"/>
              <a:t>Relationship of degree: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two is </a:t>
            </a:r>
            <a:r>
              <a:rPr lang="en-US" altLang="en-US" sz="3600" b="1" dirty="0" smtClean="0"/>
              <a:t>binary</a:t>
            </a:r>
            <a:endParaRPr lang="en-US" altLang="en-US" sz="3600" dirty="0"/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three is </a:t>
            </a:r>
            <a:r>
              <a:rPr lang="en-US" altLang="en-US" sz="3600" b="1" dirty="0" smtClean="0"/>
              <a:t>ternary</a:t>
            </a:r>
            <a:endParaRPr lang="en-US" altLang="en-US" sz="3600" dirty="0"/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four is </a:t>
            </a:r>
            <a:r>
              <a:rPr lang="en-US" altLang="en-US" sz="3600" b="1" dirty="0" smtClean="0"/>
              <a:t>quaternary</a:t>
            </a:r>
            <a:endParaRPr lang="en-US" altLang="en-US" sz="36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551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76740" cy="522288"/>
          </a:xfrm>
        </p:spPr>
        <p:txBody>
          <a:bodyPr/>
          <a:lstStyle/>
          <a:p>
            <a:r>
              <a:rPr lang="en-GB" altLang="en-US" dirty="0"/>
              <a:t>Structural </a:t>
            </a:r>
            <a:r>
              <a:rPr lang="en-GB" altLang="en-US" dirty="0" smtClean="0"/>
              <a:t>Constraints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altLang="en-US" sz="4400" dirty="0"/>
              <a:t>Main type of constraint on relationships is called </a:t>
            </a:r>
            <a:r>
              <a:rPr lang="en-US" altLang="en-US" sz="4400" b="1" dirty="0"/>
              <a:t>multiplicity</a:t>
            </a:r>
            <a:r>
              <a:rPr lang="en-US" altLang="en-US" sz="44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400" b="1" dirty="0"/>
              <a:t>Multiplicity</a:t>
            </a:r>
            <a:r>
              <a:rPr lang="en-US" altLang="en-US" sz="4400" dirty="0"/>
              <a:t> – number (or range) of possible occurrences of an entity type that may relate to a single occurrence of an associated entity type through a particular relationship.</a:t>
            </a:r>
          </a:p>
          <a:p>
            <a:pPr marL="0" indent="0">
              <a:buNone/>
            </a:pP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769680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209087" cy="522288"/>
          </a:xfrm>
        </p:spPr>
        <p:txBody>
          <a:bodyPr/>
          <a:lstStyle/>
          <a:p>
            <a:r>
              <a:rPr lang="en-GB" altLang="en-US" dirty="0"/>
              <a:t>Structural </a:t>
            </a:r>
            <a:r>
              <a:rPr lang="en-GB" altLang="en-US" dirty="0" smtClean="0"/>
              <a:t>Constraints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/>
              <a:t>Multiplicity</a:t>
            </a:r>
            <a:r>
              <a:rPr lang="en-US" altLang="en-US" sz="3200" dirty="0"/>
              <a:t> is made up of two types of restrictions on relationships: </a:t>
            </a:r>
            <a:r>
              <a:rPr lang="en-US" altLang="en-US" sz="3200" b="1" dirty="0"/>
              <a:t>cardinality</a:t>
            </a:r>
            <a:r>
              <a:rPr lang="en-US" altLang="en-US" sz="3200" dirty="0"/>
              <a:t> and </a:t>
            </a:r>
            <a:r>
              <a:rPr lang="en-US" altLang="en-US" sz="3200" b="1" dirty="0"/>
              <a:t>participation</a:t>
            </a:r>
            <a:r>
              <a:rPr lang="en-US" altLang="en-US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/>
              <a:t>Cardinality 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Describes maximum number of possible relationship occurrences for an entity participating in a given relationship type. </a:t>
            </a:r>
            <a:endParaRPr lang="en-US" alt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3200" b="1" dirty="0"/>
              <a:t>Participation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Determines whether all or only some entity occurrences participate in a relationship.</a:t>
            </a:r>
            <a:endParaRPr lang="en-US" altLang="en-US" sz="18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080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68455" cy="522288"/>
          </a:xfrm>
        </p:spPr>
        <p:txBody>
          <a:bodyPr/>
          <a:lstStyle/>
          <a:p>
            <a:r>
              <a:rPr lang="en-GB" altLang="en-US" dirty="0" smtClean="0"/>
              <a:t>Structural Constraints </a:t>
            </a:r>
            <a:r>
              <a:rPr lang="en-US" dirty="0" smtClean="0"/>
              <a:t>example</a:t>
            </a:r>
            <a:endParaRPr lang="ru-RU" dirty="0"/>
          </a:p>
        </p:txBody>
      </p:sp>
      <p:pic>
        <p:nvPicPr>
          <p:cNvPr id="4" name="Picture 5" descr="D:\Database System 3e_tiff\Ch11-tif\DS3-Figure 11-18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664" y="782053"/>
            <a:ext cx="8939462" cy="581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56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 smtClean="0"/>
              <a:t>Structural Constraints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altLang="en-US" sz="3600" dirty="0"/>
              <a:t>The most common degree for relationships is </a:t>
            </a:r>
            <a:r>
              <a:rPr lang="en-US" altLang="en-US" sz="3600" b="1" dirty="0"/>
              <a:t>binary</a:t>
            </a:r>
            <a:r>
              <a:rPr lang="en-US" altLang="en-US" sz="3600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3600" dirty="0"/>
              <a:t>Binary relationships are generally referred to as being:</a:t>
            </a:r>
          </a:p>
          <a:p>
            <a:pPr lvl="1">
              <a:lnSpc>
                <a:spcPct val="120000"/>
              </a:lnSpc>
            </a:pPr>
            <a:r>
              <a:rPr lang="en-US" altLang="en-US" sz="3600" b="1" dirty="0"/>
              <a:t>one-to-one</a:t>
            </a:r>
            <a:r>
              <a:rPr lang="en-US" altLang="en-US" sz="3600" dirty="0"/>
              <a:t> (1:1)</a:t>
            </a:r>
          </a:p>
          <a:p>
            <a:pPr lvl="1">
              <a:lnSpc>
                <a:spcPct val="120000"/>
              </a:lnSpc>
            </a:pPr>
            <a:r>
              <a:rPr lang="en-US" altLang="en-US" sz="3600" b="1" dirty="0"/>
              <a:t>one-to-many</a:t>
            </a:r>
            <a:r>
              <a:rPr lang="en-US" altLang="en-US" sz="3600" dirty="0"/>
              <a:t> (1:*)</a:t>
            </a:r>
          </a:p>
          <a:p>
            <a:pPr lvl="1">
              <a:lnSpc>
                <a:spcPct val="120000"/>
              </a:lnSpc>
            </a:pPr>
            <a:r>
              <a:rPr lang="en-US" altLang="en-US" sz="3600" b="1" dirty="0"/>
              <a:t>many-to-many</a:t>
            </a:r>
            <a:r>
              <a:rPr lang="en-US" altLang="en-US" sz="3600" dirty="0"/>
              <a:t> (*:*)</a:t>
            </a:r>
            <a:endParaRPr lang="en-US" altLang="en-US" sz="20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3052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One-to-one relationship (1:1)</a:t>
            </a:r>
            <a:endParaRPr lang="ru-RU" dirty="0"/>
          </a:p>
        </p:txBody>
      </p:sp>
      <p:pic>
        <p:nvPicPr>
          <p:cNvPr id="4" name="Picture 7" descr="D:\Database System 3e_tiff\Ch11-tif\DS3-Figure 11-14a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740434"/>
            <a:ext cx="11856034" cy="57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122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One-to-one </a:t>
            </a:r>
            <a:r>
              <a:rPr lang="en-US" dirty="0" smtClean="0"/>
              <a:t>relationship (1:1)</a:t>
            </a:r>
            <a:endParaRPr lang="ru-RU" dirty="0"/>
          </a:p>
        </p:txBody>
      </p:sp>
      <p:pic>
        <p:nvPicPr>
          <p:cNvPr id="4" name="Picture 8" descr="D:\Database System 3e_tiff\Ch11-tif\DS3-Figure 11-14b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54" y="953991"/>
            <a:ext cx="11153272" cy="5378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9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294687" cy="522288"/>
          </a:xfrm>
        </p:spPr>
        <p:txBody>
          <a:bodyPr/>
          <a:lstStyle/>
          <a:p>
            <a:r>
              <a:rPr lang="en-US" dirty="0" smtClean="0"/>
              <a:t>One-to-many relationship (1:*)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9" descr="D:\Database System 3e_tiff\Ch11-tif\DS3-Figure 11-15a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646" y="1418907"/>
            <a:ext cx="8554708" cy="4322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0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487192" cy="522288"/>
          </a:xfrm>
        </p:spPr>
        <p:txBody>
          <a:bodyPr/>
          <a:lstStyle/>
          <a:p>
            <a:r>
              <a:rPr lang="en-US" dirty="0"/>
              <a:t>One-to-many </a:t>
            </a:r>
            <a:r>
              <a:rPr lang="en-US" dirty="0" smtClean="0"/>
              <a:t>relationship (1:*)</a:t>
            </a:r>
            <a:endParaRPr lang="ru-RU" dirty="0"/>
          </a:p>
        </p:txBody>
      </p:sp>
      <p:pic>
        <p:nvPicPr>
          <p:cNvPr id="4" name="Picture 8" descr="D:\Database System 3e_tiff\Ch11-tif\DS3-Figure 11-15b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26" y="1035860"/>
            <a:ext cx="11160177" cy="5521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982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76740" cy="522288"/>
          </a:xfrm>
        </p:spPr>
        <p:txBody>
          <a:bodyPr/>
          <a:lstStyle/>
          <a:p>
            <a:r>
              <a:rPr lang="en-US" dirty="0" smtClean="0"/>
              <a:t>Many-to-many relationship (*:*)</a:t>
            </a:r>
            <a:endParaRPr lang="ru-RU" dirty="0"/>
          </a:p>
        </p:txBody>
      </p:sp>
      <p:pic>
        <p:nvPicPr>
          <p:cNvPr id="4" name="Picture 7" descr="D:\Database System 3e_tiff\Ch11-tif\DS3-Figure 11-16a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63" y="866274"/>
            <a:ext cx="9896625" cy="567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181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92519" cy="522288"/>
          </a:xfrm>
        </p:spPr>
        <p:txBody>
          <a:bodyPr/>
          <a:lstStyle/>
          <a:p>
            <a:r>
              <a:rPr lang="en-US" dirty="0"/>
              <a:t>Many-to-many relationship </a:t>
            </a:r>
            <a:r>
              <a:rPr lang="en-US" dirty="0" smtClean="0"/>
              <a:t>(*:*)</a:t>
            </a:r>
            <a:endParaRPr lang="ru-RU" dirty="0"/>
          </a:p>
        </p:txBody>
      </p:sp>
      <p:pic>
        <p:nvPicPr>
          <p:cNvPr id="4" name="Picture 8" descr="D:\Database System 3e_tiff\Ch11-tif\DS3-Figure 11-16b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47" y="1076052"/>
            <a:ext cx="11642247" cy="51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23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ru-RU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52526"/>
              </p:ext>
            </p:extLst>
          </p:nvPr>
        </p:nvGraphicFramePr>
        <p:xfrm>
          <a:off x="783021" y="1279850"/>
          <a:ext cx="10625958" cy="4645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19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52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3200" b="1" dirty="0" smtClean="0"/>
                        <a:t>Entity</a:t>
                      </a:r>
                      <a:endParaRPr lang="en-US" sz="3200" b="1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3200" b="1" dirty="0" smtClean="0"/>
                        <a:t>Relationship</a:t>
                      </a:r>
                      <a:endParaRPr lang="en-US" sz="3200" b="1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3200" b="1" dirty="0" smtClean="0"/>
                        <a:t>Attribute</a:t>
                      </a:r>
                      <a:endParaRPr lang="en-US" sz="3200" b="1" dirty="0"/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Type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Occurrence </a:t>
                      </a:r>
                      <a:endParaRPr lang="en-US" sz="32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Type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Occurrence</a:t>
                      </a:r>
                      <a:endParaRPr lang="en-US" sz="32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Simple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Composite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Strong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Weak</a:t>
                      </a:r>
                      <a:endParaRPr lang="en-US" sz="32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Degree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Multiplicity</a:t>
                      </a:r>
                    </a:p>
                    <a:p>
                      <a:pPr marL="742950" lvl="1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Cardinality</a:t>
                      </a:r>
                    </a:p>
                    <a:p>
                      <a:pPr marL="742950" lvl="1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Participation</a:t>
                      </a:r>
                      <a:endParaRPr lang="en-US" sz="32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Single-valued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smtClean="0"/>
                        <a:t>Multi-valued</a:t>
                      </a:r>
                      <a:endParaRPr lang="en-US" sz="3200" dirty="0"/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855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Reading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4000" dirty="0" smtClean="0"/>
              <a:t>T. </a:t>
            </a:r>
            <a:r>
              <a:rPr lang="en-GB" sz="4000" dirty="0" err="1" smtClean="0"/>
              <a:t>Connoly</a:t>
            </a:r>
            <a:r>
              <a:rPr lang="en-GB" sz="4000" dirty="0" smtClean="0"/>
              <a:t> </a:t>
            </a:r>
            <a:r>
              <a:rPr lang="en-GB" sz="4000" dirty="0"/>
              <a:t>Chapter 1, </a:t>
            </a:r>
            <a:r>
              <a:rPr lang="en-GB" sz="4000" dirty="0" smtClean="0"/>
              <a:t>2, 11,12</a:t>
            </a:r>
            <a:endParaRPr lang="en-GB" sz="4000" dirty="0"/>
          </a:p>
          <a:p>
            <a:r>
              <a:rPr lang="en-US" sz="4000" dirty="0" smtClean="0"/>
              <a:t>N. </a:t>
            </a:r>
            <a:r>
              <a:rPr lang="en-US" sz="4000" dirty="0" err="1" smtClean="0"/>
              <a:t>Elmasri</a:t>
            </a:r>
            <a:r>
              <a:rPr lang="en-US" sz="4000" dirty="0" smtClean="0"/>
              <a:t> Chapter 1,2, 4</a:t>
            </a:r>
          </a:p>
          <a:p>
            <a:r>
              <a:rPr lang="en-US" sz="4000" dirty="0" smtClean="0"/>
              <a:t>J. </a:t>
            </a:r>
            <a:r>
              <a:rPr lang="en-US" sz="4000" dirty="0" err="1" smtClean="0"/>
              <a:t>Gehrke</a:t>
            </a:r>
            <a:r>
              <a:rPr lang="en-US" sz="4000" dirty="0" smtClean="0"/>
              <a:t>  Chapter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30026309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83FA4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FE587DC-B932-4717-BE1E-84EBCCC004C1}" vid="{B0770EC1-ED8D-4515-A7AA-30E7856F12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8DD1C6-021E-48EB-8748-DC22460048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3CB039-C1D9-4974-B612-6EF5441C28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63DAA6-F5D8-4009-8022-789E9D2DA80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298</TotalTime>
  <Words>681</Words>
  <Application>Microsoft Office PowerPoint</Application>
  <PresentationFormat>Widescreen</PresentationFormat>
  <Paragraphs>154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WIUT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dpochitaev@wiut.uz</dc:creator>
  <cp:lastModifiedBy>Dmitriy Pochitaev</cp:lastModifiedBy>
  <cp:revision>54</cp:revision>
  <dcterms:created xsi:type="dcterms:W3CDTF">2016-09-21T07:29:12Z</dcterms:created>
  <dcterms:modified xsi:type="dcterms:W3CDTF">2019-09-16T05:45:45Z</dcterms:modified>
</cp:coreProperties>
</file>